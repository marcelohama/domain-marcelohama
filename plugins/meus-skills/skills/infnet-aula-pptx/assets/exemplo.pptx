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embeddedFontLst>
    <p:embeddedFont>
      <p:font typeface="Libre Franklin"/>
      <p:regular r:id="rId63"/>
      <p:bold r:id="rId64"/>
      <p:italic r:id="rId65"/>
      <p:boldItalic r:id="rId66"/>
    </p:embeddedFont>
    <p:embeddedFont>
      <p:font typeface="Libre Baskerville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LibreBaskerville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LibreFranklin-bold.fntdata"/><Relationship Id="rId63" Type="http://schemas.openxmlformats.org/officeDocument/2006/relationships/font" Target="fonts/LibreFranklin-regular.fntdata"/><Relationship Id="rId22" Type="http://schemas.openxmlformats.org/officeDocument/2006/relationships/slide" Target="slides/slide17.xml"/><Relationship Id="rId66" Type="http://schemas.openxmlformats.org/officeDocument/2006/relationships/font" Target="fonts/LibreFranklin-boldItalic.fntdata"/><Relationship Id="rId21" Type="http://schemas.openxmlformats.org/officeDocument/2006/relationships/slide" Target="slides/slide16.xml"/><Relationship Id="rId65" Type="http://schemas.openxmlformats.org/officeDocument/2006/relationships/font" Target="fonts/LibreFranklin-italic.fntdata"/><Relationship Id="rId24" Type="http://schemas.openxmlformats.org/officeDocument/2006/relationships/slide" Target="slides/slide19.xml"/><Relationship Id="rId68" Type="http://schemas.openxmlformats.org/officeDocument/2006/relationships/font" Target="fonts/LibreBaskerville-bold.fntdata"/><Relationship Id="rId23" Type="http://schemas.openxmlformats.org/officeDocument/2006/relationships/slide" Target="slides/slide18.xml"/><Relationship Id="rId67" Type="http://schemas.openxmlformats.org/officeDocument/2006/relationships/font" Target="fonts/LibreBaskerville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LibreBaskerville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882484b77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882484b77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766318821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766318821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766318821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766318821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766318821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766318821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882484b777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882484b77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766318821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766318821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766318821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766318821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66318821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766318821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766318821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766318821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766318821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766318821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766318821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766318821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766318821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766318821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766318821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766318821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766318821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766318821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766318821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766318821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766318821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766318821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766318821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766318821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766318821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766318821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766318821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766318821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766318821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766318821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766318821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766318821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766318821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766318821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766318821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766318821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766318821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766318821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766318821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766318821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766318821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766318821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766318821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766318821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766318821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766318821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766318821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766318821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766318821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766318821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766318821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766318821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766318821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766318821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766318821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766318821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882484b77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882484b77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766318821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766318821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766318821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766318821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766318821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766318821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766318821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766318821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766318821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766318821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7189d9be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7189d9be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766318821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766318821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766318821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766318821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766318821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d766318821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766318821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766318821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766318821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d766318821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766318821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d766318821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766318821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d766318821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766318821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766318821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766318821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766318821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766318821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766318821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766318821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d766318821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97189d9be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97189d9be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766318821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d766318821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766318821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d766318821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766318821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766318821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766318821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766318821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766318821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d766318821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google.com/url?sa=i&amp;source=images&amp;cd=&amp;cad=rja&amp;uact=8&amp;docid=QnYlf-1pRlXNNM&amp;tbnid=Hs_XyD9upu5RhM:&amp;ved=0CAgQjRw&amp;url=http://www.ucam-campos.br/&amp;ei=4Cc3U4f4KdOP0gHC7IFA&amp;psig=AFQjCNFj61bDTrnSfcI7ixqr8PpItYsxbA&amp;ust=1396210016804782" TargetMode="External"/><Relationship Id="rId3" Type="http://schemas.openxmlformats.org/officeDocument/2006/relationships/image" Target="../media/image1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63500" y="1087046"/>
            <a:ext cx="9020100" cy="11454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63500" y="1047750"/>
            <a:ext cx="9020100" cy="90600"/>
          </a:xfrm>
          <a:prstGeom prst="rect">
            <a:avLst/>
          </a:prstGeom>
          <a:solidFill>
            <a:srgbClr val="A8B9D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3500" y="2232428"/>
            <a:ext cx="9020100" cy="8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9525" y="-5953"/>
            <a:ext cx="9163050" cy="78105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6"/>
                </a:srgbClr>
              </a:gs>
              <a:gs pos="100000">
                <a:srgbClr val="00E9F7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295400" y="2400300"/>
            <a:ext cx="6400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457200" y="1129453"/>
            <a:ext cx="82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42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Resultado de imagem para infnet logo"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4435" y="40991"/>
            <a:ext cx="905897" cy="90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"/>
          <p:cNvGrpSpPr/>
          <p:nvPr/>
        </p:nvGrpSpPr>
        <p:grpSpPr>
          <a:xfrm rot="10800000">
            <a:off x="0" y="-182161"/>
            <a:ext cx="9163050" cy="781050"/>
            <a:chOff x="-9525" y="5816600"/>
            <a:chExt cx="9163050" cy="1041400"/>
          </a:xfrm>
        </p:grpSpPr>
        <p:sp>
          <p:nvSpPr>
            <p:cNvPr id="28" name="Google Shape;28;p3"/>
            <p:cNvSpPr/>
            <p:nvPr/>
          </p:nvSpPr>
          <p:spPr>
            <a:xfrm flipH="1" rot="10800000">
              <a:off x="-9525" y="5816600"/>
              <a:ext cx="9163050" cy="1041400"/>
            </a:xfrm>
            <a:custGeom>
              <a:rect b="b" l="l" r="r" t="t"/>
              <a:pathLst>
                <a:path extrusionOk="0" h="656" w="5772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rgbClr val="0079AD">
                    <a:alpha val="44706"/>
                  </a:srgbClr>
                </a:gs>
                <a:gs pos="100000">
                  <a:srgbClr val="00E9F7">
                    <a:alpha val="54902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 flipH="1" rot="10800000">
              <a:off x="4381500" y="6219825"/>
              <a:ext cx="4762500" cy="638175"/>
            </a:xfrm>
            <a:custGeom>
              <a:rect b="b" l="l" r="r" t="t"/>
              <a:pathLst>
                <a:path extrusionOk="0" h="595" w="3000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ABB4">
                    <a:alpha val="29804"/>
                  </a:srgbClr>
                </a:gs>
                <a:gs pos="80000">
                  <a:srgbClr val="0099E4">
                    <a:alpha val="44706"/>
                  </a:srgbClr>
                </a:gs>
                <a:gs pos="100000">
                  <a:srgbClr val="0099E4">
                    <a:alpha val="44706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3"/>
          <p:cNvSpPr/>
          <p:nvPr>
            <p:ph idx="12" type="sldNum"/>
          </p:nvPr>
        </p:nvSpPr>
        <p:spPr>
          <a:xfrm>
            <a:off x="179388" y="4658916"/>
            <a:ext cx="457200" cy="342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sultado de imagem para infnet logo" id="35" name="Google Shape;3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" name="Google Shape;38;p4"/>
          <p:cNvSpPr/>
          <p:nvPr/>
        </p:nvSpPr>
        <p:spPr>
          <a:xfrm flipH="1" rot="10800000">
            <a:off x="69854" y="1782428"/>
            <a:ext cx="9013800" cy="69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9854" y="1756178"/>
            <a:ext cx="9013800" cy="34500"/>
          </a:xfrm>
          <a:prstGeom prst="rect">
            <a:avLst/>
          </a:prstGeom>
          <a:solidFill>
            <a:srgbClr val="A8B9D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265" y="1851428"/>
            <a:ext cx="9015300" cy="3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1" name="Google Shape;41;p4"/>
          <p:cNvSpPr txBox="1"/>
          <p:nvPr>
            <p:ph type="title"/>
          </p:nvPr>
        </p:nvSpPr>
        <p:spPr>
          <a:xfrm>
            <a:off x="722313" y="714380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722313" y="1910954"/>
            <a:ext cx="77724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00"/>
              <a:buFont typeface="Calibri"/>
              <a:buNone/>
              <a:defRPr sz="1100">
                <a:solidFill>
                  <a:srgbClr val="888888"/>
                </a:solidFill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1" type="ftr"/>
          </p:nvPr>
        </p:nvSpPr>
        <p:spPr>
          <a:xfrm>
            <a:off x="800100" y="4629150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4"/>
          <p:cNvSpPr/>
          <p:nvPr>
            <p:ph idx="12" type="sldNum"/>
          </p:nvPr>
        </p:nvSpPr>
        <p:spPr>
          <a:xfrm>
            <a:off x="146050" y="4656535"/>
            <a:ext cx="457200" cy="342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sultado de imagem para infnet logo"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body"/>
          </p:nvPr>
        </p:nvSpPr>
        <p:spPr>
          <a:xfrm>
            <a:off x="914400" y="1085850"/>
            <a:ext cx="3749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body"/>
          </p:nvPr>
        </p:nvSpPr>
        <p:spPr>
          <a:xfrm>
            <a:off x="4933950" y="1085850"/>
            <a:ext cx="3749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5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sultado de imagem para infnet logo"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/>
          <p:nvPr>
            <p:ph type="title"/>
          </p:nvPr>
        </p:nvSpPr>
        <p:spPr>
          <a:xfrm>
            <a:off x="914400" y="20478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" type="body"/>
          </p:nvPr>
        </p:nvSpPr>
        <p:spPr>
          <a:xfrm>
            <a:off x="914400" y="1085850"/>
            <a:ext cx="3733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18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b="1" sz="12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2" type="body"/>
          </p:nvPr>
        </p:nvSpPr>
        <p:spPr>
          <a:xfrm>
            <a:off x="4953000" y="1085850"/>
            <a:ext cx="3733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18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b="1" sz="12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3" type="body"/>
          </p:nvPr>
        </p:nvSpPr>
        <p:spPr>
          <a:xfrm>
            <a:off x="914400" y="1685925"/>
            <a:ext cx="37338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4" type="body"/>
          </p:nvPr>
        </p:nvSpPr>
        <p:spPr>
          <a:xfrm>
            <a:off x="4953000" y="1685925"/>
            <a:ext cx="37338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6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sultado de imagem para infnet logo" id="64" name="Google Shape;6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7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sultado de imagem para infnet logo" id="70" name="Google Shape;7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8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sultado de imagem para infnet logo" id="75" name="Google Shape;7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3504" y="52388"/>
            <a:ext cx="9013800" cy="50196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14400" y="20478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  <a:defRPr b="0"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" type="body"/>
          </p:nvPr>
        </p:nvSpPr>
        <p:spPr>
          <a:xfrm>
            <a:off x="914400" y="1200150"/>
            <a:ext cx="19050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700"/>
              <a:buFont typeface="Calibri"/>
              <a:buNone/>
              <a:defRPr sz="7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2" type="body"/>
          </p:nvPr>
        </p:nvSpPr>
        <p:spPr>
          <a:xfrm>
            <a:off x="2971800" y="1200150"/>
            <a:ext cx="57150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9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sultado de imagem para infnet logo" id="85" name="Google Shape;8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 flipH="1" rot="10800000">
            <a:off x="68267" y="3512405"/>
            <a:ext cx="9007500" cy="6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68267" y="3487346"/>
            <a:ext cx="9007500" cy="34500"/>
          </a:xfrm>
          <a:prstGeom prst="rect">
            <a:avLst/>
          </a:prstGeom>
          <a:solidFill>
            <a:srgbClr val="A8B9D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68267" y="3580215"/>
            <a:ext cx="9007500" cy="3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90" name="Google Shape;90;p10"/>
          <p:cNvSpPr/>
          <p:nvPr/>
        </p:nvSpPr>
        <p:spPr>
          <a:xfrm flipH="1" rot="10800000">
            <a:off x="-9525" y="4362450"/>
            <a:ext cx="9163050" cy="78105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6"/>
                </a:srgbClr>
              </a:gs>
              <a:gs pos="100000">
                <a:srgbClr val="00E9F7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http://t3.gstatic.com/images?q=tbn:ANd9GcS1_J5-Tu7Zqf-HJ8VN4YZAQu4tHws0g_-4LxwQw3lcdZLIOpoG" id="91" name="Google Shape;91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5463" y="141685"/>
            <a:ext cx="792162" cy="59412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>
            <p:ph type="title"/>
          </p:nvPr>
        </p:nvSpPr>
        <p:spPr>
          <a:xfrm>
            <a:off x="914400" y="3675413"/>
            <a:ext cx="73152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b="0"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" type="body"/>
          </p:nvPr>
        </p:nvSpPr>
        <p:spPr>
          <a:xfrm>
            <a:off x="914400" y="4084369"/>
            <a:ext cx="7315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000"/>
              <a:buFont typeface="Calibri"/>
              <a:buNone/>
              <a:defRPr sz="1200"/>
            </a:lvl1pPr>
            <a:lvl2pPr indent="-279400" lvl="1" marL="914400" algn="l">
              <a:spcBef>
                <a:spcPts val="300"/>
              </a:spcBef>
              <a:spcAft>
                <a:spcPts val="0"/>
              </a:spcAft>
              <a:buSzPts val="800"/>
              <a:buChar char="⚫"/>
              <a:defRPr sz="900"/>
            </a:lvl2pPr>
            <a:lvl3pPr indent="-266700" lvl="2" marL="1371600" algn="l">
              <a:spcBef>
                <a:spcPts val="300"/>
              </a:spcBef>
              <a:spcAft>
                <a:spcPts val="0"/>
              </a:spcAft>
              <a:buSzPts val="600"/>
              <a:buChar char="⚫"/>
              <a:defRPr sz="800"/>
            </a:lvl3pPr>
            <a:lvl4pPr indent="-260350" lvl="3" marL="1828800" algn="l">
              <a:spcBef>
                <a:spcPts val="300"/>
              </a:spcBef>
              <a:spcAft>
                <a:spcPts val="0"/>
              </a:spcAft>
              <a:buSzPts val="500"/>
              <a:buChar char="⚫"/>
              <a:defRPr sz="700"/>
            </a:lvl4pPr>
            <a:lvl5pPr indent="-273050" lvl="4" marL="2286000" algn="l">
              <a:spcBef>
                <a:spcPts val="300"/>
              </a:spcBef>
              <a:spcAft>
                <a:spcPts val="0"/>
              </a:spcAft>
              <a:buSzPts val="700"/>
              <a:buFont typeface="Calibri"/>
              <a:buChar char="o"/>
              <a:defRPr sz="7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10"/>
          <p:cNvSpPr/>
          <p:nvPr>
            <p:ph idx="2" type="pic"/>
          </p:nvPr>
        </p:nvSpPr>
        <p:spPr>
          <a:xfrm>
            <a:off x="68311" y="50012"/>
            <a:ext cx="9001800" cy="3436200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0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11" type="ftr"/>
          </p:nvPr>
        </p:nvSpPr>
        <p:spPr>
          <a:xfrm>
            <a:off x="914400" y="462915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0"/>
          <p:cNvSpPr/>
          <p:nvPr>
            <p:ph idx="12" type="sldNum"/>
          </p:nvPr>
        </p:nvSpPr>
        <p:spPr>
          <a:xfrm>
            <a:off x="146050" y="465653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/>
          <p:nvPr/>
        </p:nvSpPr>
        <p:spPr>
          <a:xfrm>
            <a:off x="8316913" y="73819"/>
            <a:ext cx="673200" cy="500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0" name="Google Shape;100;p11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" type="body"/>
          </p:nvPr>
        </p:nvSpPr>
        <p:spPr>
          <a:xfrm rot="5400000">
            <a:off x="3086100" y="-1085850"/>
            <a:ext cx="3429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/>
          <p:nvPr/>
        </p:nvSpPr>
        <p:spPr>
          <a:xfrm>
            <a:off x="8316913" y="73819"/>
            <a:ext cx="673200" cy="500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7" name="Google Shape;107;p12"/>
          <p:cNvSpPr txBox="1"/>
          <p:nvPr>
            <p:ph type="title"/>
          </p:nvPr>
        </p:nvSpPr>
        <p:spPr>
          <a:xfrm rot="5400000">
            <a:off x="5440830" y="1394436"/>
            <a:ext cx="43887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 rot="5400000">
            <a:off x="1501350" y="-380965"/>
            <a:ext cx="43887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spcBef>
                <a:spcPts val="400"/>
              </a:spcBef>
              <a:spcAft>
                <a:spcPts val="0"/>
              </a:spcAft>
              <a:buSzPts val="11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3pPr>
            <a:lvl4pPr indent="-298450" lvl="3" marL="18288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SzPts val="1400"/>
              <a:buChar char="o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2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63504" y="52388"/>
            <a:ext cx="9013800" cy="50196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655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115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E6B1AB"/>
              </a:buClr>
              <a:buSzPts val="13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300"/>
              </a:spcBef>
              <a:spcAft>
                <a:spcPts val="0"/>
              </a:spcAft>
              <a:buClr>
                <a:srgbClr val="A28E6A"/>
              </a:buClr>
              <a:buSzPts val="12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A28E6A"/>
              </a:buClr>
              <a:buSzPts val="1500"/>
              <a:buFont typeface="Calibri"/>
              <a:buChar char="o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bre Baskerville"/>
              <a:buChar char="•"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ibre Baskerville"/>
              <a:buChar char="•"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A8B9DF"/>
              </a:buClr>
              <a:buSzPts val="1400"/>
              <a:buFont typeface="Libre Baskerville"/>
              <a:buChar char="•"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A8CBE9"/>
              </a:buClr>
              <a:buSzPts val="1400"/>
              <a:buFont typeface="Libre Baskerville"/>
              <a:buChar char="•"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6172200" y="4643438"/>
            <a:ext cx="2476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" name="Google Shape;12;p1"/>
          <p:cNvSpPr/>
          <p:nvPr>
            <p:ph idx="12" type="sldNum"/>
          </p:nvPr>
        </p:nvSpPr>
        <p:spPr>
          <a:xfrm>
            <a:off x="146050" y="4657725"/>
            <a:ext cx="4572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-9525" y="-5953"/>
            <a:ext cx="9163050" cy="78105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6"/>
                </a:srgbClr>
              </a:gs>
              <a:gs pos="100000">
                <a:srgbClr val="00E9F7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Resultado de imagem para infnet logo"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64223" y="54088"/>
            <a:ext cx="582262" cy="5805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marcelo.hama@prof.infnet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9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docker.com/products/docker-desktop/" TargetMode="External"/><Relationship Id="rId4" Type="http://schemas.openxmlformats.org/officeDocument/2006/relationships/hyperlink" Target="https://login.docker.com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Relationship Id="rId4" Type="http://schemas.openxmlformats.org/officeDocument/2006/relationships/image" Target="../media/image17.png"/><Relationship Id="rId5" Type="http://schemas.openxmlformats.org/officeDocument/2006/relationships/hyperlink" Target="https://ngrok.com/download/windows" TargetMode="External"/><Relationship Id="rId6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1295400" y="2400300"/>
            <a:ext cx="6400800" cy="120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Etapa 2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Professor(a):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E-mail: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marcelo.hama@prof.infnet.edu.br</a:t>
            </a:r>
            <a:endParaRPr/>
          </a:p>
        </p:txBody>
      </p:sp>
      <p:sp>
        <p:nvSpPr>
          <p:cNvPr id="117" name="Google Shape;117;p13"/>
          <p:cNvSpPr txBox="1"/>
          <p:nvPr>
            <p:ph type="ctrTitle"/>
          </p:nvPr>
        </p:nvSpPr>
        <p:spPr>
          <a:xfrm>
            <a:off x="457200" y="1129453"/>
            <a:ext cx="8229600" cy="1102500"/>
          </a:xfrm>
          <a:prstGeom prst="rect">
            <a:avLst/>
          </a:prstGeom>
        </p:spPr>
        <p:txBody>
          <a:bodyPr anchorCtr="0" anchor="ctr" bIns="685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 e Modelagem Relacional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de Uma Base de Dados</a:t>
            </a:r>
            <a:endParaRPr/>
          </a:p>
        </p:txBody>
      </p:sp>
      <p:sp>
        <p:nvSpPr>
          <p:cNvPr id="123" name="Google Shape;123;p14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Existe uma sequência lógica e progressiva dentro do processo de design e implementação de um banco de dados relacional:</a:t>
            </a:r>
            <a:endParaRPr sz="18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800"/>
              <a:t>Requisitos → Modelagem → Criação → Restrições</a:t>
            </a:r>
            <a:endParaRPr b="1" i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O ponto de partida é o </a:t>
            </a:r>
            <a:r>
              <a:rPr b="1" lang="pt-BR" sz="1600"/>
              <a:t>levantamento dos requisitos</a:t>
            </a:r>
            <a:r>
              <a:rPr lang="pt-BR" sz="1600"/>
              <a:t>, onde se identificam as entidades do mundo real (clientes, produtos, pedidos) e como elas se relacionam entre si;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Com os requisitos definidos, passa-se à </a:t>
            </a:r>
            <a:r>
              <a:rPr b="1" lang="pt-BR" sz="1600"/>
              <a:t>modelagem</a:t>
            </a:r>
            <a:r>
              <a:rPr lang="pt-BR" sz="1600"/>
              <a:t>, traduzindo entidades em tabelas e seus atributos em campos. É aqui que o design lógico toma forma, definindo chaves primárias e estrangeiras e a estrutura das tabelas;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O modelo lógico é então materializado na </a:t>
            </a:r>
            <a:r>
              <a:rPr b="1" lang="pt-BR" sz="1600"/>
              <a:t>criação</a:t>
            </a:r>
            <a:r>
              <a:rPr lang="pt-BR" sz="1600"/>
              <a:t> física das tabelas no RDBMS, usando comandos </a:t>
            </a:r>
            <a:r>
              <a:rPr b="1" i="1" lang="pt-BR" sz="1600"/>
              <a:t>SQL</a:t>
            </a:r>
            <a:r>
              <a:rPr lang="pt-BR" sz="1600"/>
              <a:t> como </a:t>
            </a:r>
            <a:r>
              <a:rPr b="1" i="1" lang="pt-BR" sz="1600"/>
              <a:t>CREATE TABLE</a:t>
            </a:r>
            <a:r>
              <a:rPr lang="pt-BR" sz="1600"/>
              <a:t>. É a passagem do papel para o database real;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Por fim, aplicamos restrições </a:t>
            </a:r>
            <a:r>
              <a:rPr b="1" i="1" lang="pt-BR" sz="1600"/>
              <a:t>UNIQUE</a:t>
            </a:r>
            <a:r>
              <a:rPr lang="pt-BR" sz="1600"/>
              <a:t> e </a:t>
            </a:r>
            <a:r>
              <a:rPr b="1" i="1" lang="pt-BR" sz="1600"/>
              <a:t>NOT NULL</a:t>
            </a:r>
            <a:r>
              <a:rPr lang="pt-BR" sz="1600"/>
              <a:t> como mecanismos de integridade que garantem a qualidade dos dados dentro das tabelas criadas.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de Uma Base de Dados</a:t>
            </a:r>
            <a:endParaRPr/>
          </a:p>
        </p:txBody>
      </p:sp>
      <p:sp>
        <p:nvSpPr>
          <p:cNvPr id="129" name="Google Shape;129;p15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3000"/>
              <a:t>PARTE 1</a:t>
            </a:r>
            <a:endParaRPr sz="3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3000"/>
              <a:t>Requisitos para Organizar Entidades e Relacionamentos</a:t>
            </a:r>
            <a:endParaRPr b="1"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O processo de design começa por duas tarefas:</a:t>
            </a:r>
            <a:endParaRPr/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Definição do propósito do banco e;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Descoberta das tarefas que os usuários realizarão com os dados.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Esses dois elementos orientam todo o desenvolvimento e garantem que a estrutura final do banco atenda aos objetivos declarados.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Ambas as tarefas são executadas por meio de </a:t>
            </a:r>
            <a:r>
              <a:rPr b="1" lang="pt-BR"/>
              <a:t>entrevistas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Condução de Entrevistas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As entrevistas são parte essencial do processo de design de banco de dados, funcionando como elo de comunicação entre o desenvolvedor e as pessoas para quem o banco é criado;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Elas f</a:t>
            </a:r>
            <a:r>
              <a:rPr lang="pt-BR" sz="1800"/>
              <a:t>ornecem informações críticas que impactam diretamente a estrutura do banco — como definir características de relacionamentos entre tabelas, por exemplo;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Mesmo em organizações pequenas ou projetos individuais, as entrevistas devem ser realizadas. Nesses casos, o desenvolvedor assume os dois papéis: entrevistador e entrevistado.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Condução de Entrevistas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Nenhuma entrevista prevista no processo deve ser omitida, pois cada uma pode revelar informações importantes. A ausência de qualquer entrevista pode comprometer a estrutura final do banco;</a:t>
            </a:r>
            <a:endParaRPr sz="1800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É fundamental estabelecer diretrizes antes de cada entrevista, garantindo consistência e aumentando as chances de sucesso;</a:t>
            </a:r>
            <a:endParaRPr sz="1800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Entrevistar é uma habilidade que se desenvolve com paciência, dedicação e prática, e existem diversas abordagens e técnicas documentadas na literatura acadêmica sobre o tema.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Guidelines dos Participantes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Prepare os participantes antecipadamente</a:t>
            </a:r>
            <a:r>
              <a:rPr lang="pt-BR" sz="1800"/>
              <a:t>. Informe o assunto, os outros participantes, o horário e o contexto da entrevista. Deixe claro que não se trata de uma avaliação de desempenho. Isso reduz a resistência e constrói confiança;</a:t>
            </a:r>
            <a:endParaRPr sz="1800"/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512" y="2918965"/>
            <a:ext cx="3288975" cy="18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Guidelines dos Participantes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Valorize a participação de cada pessoa</a:t>
            </a:r>
            <a:r>
              <a:rPr lang="pt-BR" sz="1800"/>
              <a:t>. Muitos profissionais sentem que suas contribuições no trabalho passam despercebidas. Demonstrar apreço genuíno pelo feedback aumenta o engajamento e a disposição para colaborar. Em entrevistas subsequentes, mostrar como as contribuições anteriores foram utilizadas reforça essa credibilidade;</a:t>
            </a:r>
            <a:endParaRPr sz="1800"/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212" y="3336975"/>
            <a:ext cx="4086775" cy="14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Guidelines dos Participantes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Assuma o papel de árbitro em caso de disputas</a:t>
            </a:r>
            <a:r>
              <a:rPr lang="pt-BR" sz="1800"/>
              <a:t>. Desentendimentos podem surgir durante as entrevistas. Como desenvolvedor, o entrevistador tem visão objetiva e deve mediar os conflitos, sempre priorizando o melhor resultado para o banco de dados. Disputas alheias ao projeto devem ser encaminhadas a outras autoridades competentes.</a:t>
            </a:r>
            <a:endParaRPr sz="1800"/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059" y="3321725"/>
            <a:ext cx="2561879" cy="14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Guidelines do Entrevistador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O ambiente da entrevista influencia diretamente seu resultado</a:t>
            </a:r>
            <a:r>
              <a:rPr lang="pt-BR" sz="1800"/>
              <a:t>. Uma sala bem iluminada, silenciosa, com mesa ampla e cadeiras confortáveis favorece a concentração e cria um clima mais produtivo;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Limite o número de participantes</a:t>
            </a:r>
            <a:r>
              <a:rPr lang="pt-BR" sz="1800"/>
              <a:t>: Grupos grandes tendem a intimidar alguns participantes, que evitam falar por receio de parecerem incompetentes diante dos colegas;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Conduza entrevistas separadas para cada papel</a:t>
            </a:r>
            <a:r>
              <a:rPr lang="pt-BR" sz="1800"/>
              <a:t>: Cada grupo tem perspectivas distintas sobre como a organização usa seus dados, e entrevistá-los separadamente permite aproveitar melhor essas diferenças;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Designe líderes locais</a:t>
            </a:r>
            <a:r>
              <a:rPr lang="pt-BR" sz="1800"/>
              <a:t>: Ao entrevistar múltiplos grupos, designar um líder para cada grupo ajuda a manter a entrevista organizada;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Guidelines do Entrevistador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Prepare as questões de forma antecipada</a:t>
            </a:r>
            <a:r>
              <a:rPr lang="pt-BR" sz="1800"/>
              <a:t>: As perguntas devem ser preferencialmente abertas, permitindo respostas livres e elaboradas;</a:t>
            </a:r>
            <a:endParaRPr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Organize o registro das informações</a:t>
            </a:r>
            <a:r>
              <a:rPr lang="pt-BR" sz="1800"/>
              <a:t>: Delegue a tarefa do registro a alguém ou use gravadores com a permissão de todos;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Distribua a palavra equalitariamente</a:t>
            </a:r>
            <a:r>
              <a:rPr lang="pt-BR" sz="1800"/>
              <a:t>: Atenção genuína a quem fala é essencial;</a:t>
            </a:r>
            <a:endParaRPr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Mantenha o ritmo</a:t>
            </a:r>
            <a:r>
              <a:rPr lang="pt-BR" sz="1800"/>
              <a:t>: E</a:t>
            </a:r>
            <a:r>
              <a:rPr lang="pt-BR" sz="1800"/>
              <a:t>stabeleça limites pessoais de tempo para cada pergunta e tópico, sem comunicá-los aos participantes;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Mantenha o controle</a:t>
            </a:r>
            <a:r>
              <a:rPr lang="pt-BR" sz="1800"/>
              <a:t>: Quando um participante desvia o foco para assuntos irrelevantes, o entrevistador deve redirecionar a conversa antes que o controle seja perdido.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para Entidades e Relacionamentos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Exercício em Sala: 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Mike tem uma loja de revenda de bicicletas. Mike gerencia seu negócio inteiramente em papel — vendas em formulários, dados de funcionários e fornecedores em pastas, e informações de clientes em fichas. O único uso do computador para fins de negócio é controlar o estoque em planilha, o que consome muito tempo e dificulta manter os dados atualizados. Ao perceber que um banco de dados resolveria esses problemas, Mike decide contratar um consultor para projetá-lo.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Quais perguntas você faria à Mike, para responder às seguintes questões?</a:t>
            </a:r>
            <a:endParaRPr b="1"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Qual a Declaração da Missão? Em linhas gerais, </a:t>
            </a:r>
            <a:r>
              <a:rPr lang="pt-BR" sz="1800"/>
              <a:t>porque</a:t>
            </a:r>
            <a:r>
              <a:rPr lang="pt-BR" sz="1800"/>
              <a:t> ele é necessário?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Quais são os objetivos dessa Missão? Que tipos de tarefas vou resolver?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de Uma Base de Dados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3000"/>
              <a:t>PARTE 2</a:t>
            </a:r>
            <a:endParaRPr sz="3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3000"/>
              <a:t>A Modelagem a Partir de Tabelas e Campos</a:t>
            </a:r>
            <a:endParaRPr b="1"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Definição da Lista de Tabelas Preliminar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u="sng"/>
              <a:t>Identificação de Sujeitos Implícitos</a:t>
            </a:r>
            <a:endParaRPr sz="1800"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 definição das tabelas começa pela revisão da Lista Preliminar de Campos, com o objetivo de identificar sujeitos implícitos nos próprios campos — e não pela lista de sujeitos das entrevistas. Essa abordagem garante uma visão imparcial: analisar os campos como se fosse a primeira vez permite que grupos de campos sugiram sujeitos que podem ter passado despercebidos durante as entrevistas. Além disso, a lista de campos serve para verificar e cruzar os sujeitos já identificados, assegurando que nenhuma tabela necessária seja omitida.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Definição da Lista de Tabelas Preliminar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u="sng"/>
              <a:t>Aplicar a Lista </a:t>
            </a:r>
            <a:r>
              <a:rPr lang="pt-BR" sz="1800" u="sng"/>
              <a:t>de Sujeitos Implícitos</a:t>
            </a:r>
            <a:endParaRPr sz="1800"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 segunda versão da Lista Preliminar de Tabelas é criada pela fusão da lista de sujeitos das entrevistas com a primeira versão da lista, em três passos:</a:t>
            </a:r>
            <a:endParaRPr sz="18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Resolver duplicatas. Cada item da lista de sujeitos é cruzado com a Lista Preliminar de Tabelas. Se dois itens com o mesmo nome representam sujeitos distintos, ambos são renomeados e mantidos. Senão, o item da lista de sujeitos é descartado;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Resolver itens com nomes diferentes, mas mesmo significado. Quando dois itens representam o mesmo sujeito com nomes distintos, escolhe-se o nome mais adequado. Se ele já está na Lista Preliminar de Tabelas, o correspondente na lista de sujeitos é removido; caso contrário, substitui o item na lista;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Combinar os itens restantes. Os itens que ainda restam na lista de sujeitos são simplesmente adicionados à Lista Preliminar de Tabelas, completando a fusão.</a:t>
            </a:r>
            <a:endParaRPr sz="1600"/>
          </a:p>
        </p:txBody>
      </p:sp>
      <p:sp>
        <p:nvSpPr>
          <p:cNvPr id="204" name="Google Shape;204;p27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Definição da Lista de Tabelas Preliminar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u="sng"/>
              <a:t>Usando os Objetivos da Missão</a:t>
            </a:r>
            <a:endParaRPr sz="1800"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Os objetivos da missão são revisados para identificar sujeitos que possam ter sido ignorados nas etapas anteriores. É a última oportunidade de adicionar tabelas à lista. Cada objetivo é analisado com a técnica de identificação de sujeitos. Os sujeitos encontrados são cruzados com a Lista Preliminar seguindo três regras: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Itens duplicados são renomeandos se forem sujeitos distintos, descartando se forem iguais;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Itens sinônimos são unificados com o nome mais adequado;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Itens novos são simplesmente adicionados à lista.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Definição da Lista de Tabelas Preliminar</a:t>
            </a:r>
            <a:endParaRPr sz="1800"/>
          </a:p>
        </p:txBody>
      </p:sp>
      <p:pic>
        <p:nvPicPr>
          <p:cNvPr id="217" name="Google Shape;2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896" y="1433521"/>
            <a:ext cx="3781900" cy="16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896" y="3231821"/>
            <a:ext cx="3781900" cy="162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6870" y="1433525"/>
            <a:ext cx="1605904" cy="16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6876" y="3231825"/>
            <a:ext cx="1605900" cy="177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/>
          <p:nvPr/>
        </p:nvSpPr>
        <p:spPr>
          <a:xfrm>
            <a:off x="2800600" y="2911800"/>
            <a:ext cx="190500" cy="404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6204575" y="2911800"/>
            <a:ext cx="190500" cy="404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/>
          <p:nvPr/>
        </p:nvSpPr>
        <p:spPr>
          <a:xfrm rot="-8747541">
            <a:off x="5051748" y="2725788"/>
            <a:ext cx="211849" cy="98818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  <p:sp>
        <p:nvSpPr>
          <p:cNvPr id="229" name="Google Shape;229;p30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Definição da Lista de Tabelas Final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 Lista Preliminar de Tabelas é transformada em Lista Final de Tabelas com a adição de dois elementos: o </a:t>
            </a:r>
            <a:r>
              <a:rPr b="1" lang="pt-BR" sz="1800"/>
              <a:t>tipo</a:t>
            </a:r>
            <a:r>
              <a:rPr lang="pt-BR" sz="1800"/>
              <a:t> e a </a:t>
            </a:r>
            <a:r>
              <a:rPr b="1" lang="pt-BR" sz="1800"/>
              <a:t>descrição</a:t>
            </a:r>
            <a:r>
              <a:rPr lang="pt-BR" sz="1800"/>
              <a:t> de cada tabela.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Os quatro tipos de tabela são: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pt-BR" sz="1800" u="sng"/>
              <a:t>Data Table</a:t>
            </a:r>
            <a:r>
              <a:rPr lang="pt-BR" sz="1800"/>
              <a:t> (representa um sujeito importante para a organização);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 u="sng"/>
              <a:t>Linking Table</a:t>
            </a:r>
            <a:r>
              <a:rPr lang="pt-BR" sz="1800"/>
              <a:t> (conecta duas tabelas em relacionamentos muitos-para-muitos);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 u="sng"/>
              <a:t>Subset Table</a:t>
            </a:r>
            <a:r>
              <a:rPr lang="pt-BR" sz="1800"/>
              <a:t> (detalha um sujeito específico de uma data table);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 u="sng"/>
              <a:t>Validation Table</a:t>
            </a:r>
            <a:r>
              <a:rPr lang="pt-BR" sz="1800"/>
              <a:t> (contém dados estáticos para garantir integridade).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 descrição da tabela define claramente o sujeito que ela representa e explica sua importância para a organização.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Definição da Lista de Tabelas Final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 criação da Lista de Tabelas Final tem ainda os seguintes passos: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Refinamento de Nomes das Tabelas</a:t>
            </a:r>
            <a:r>
              <a:rPr lang="pt-BR" sz="1800"/>
              <a:t>: O nome deve identificar claramente o único sujeito que ela representa: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Nome único e descritivo que seja significativo para toda a organização;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Nome que identifique com precisão, clareza e sem ambiguidade;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Utilize o número mínimo de palavras para transmitir o assunto;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Não utilize palavras que descrevam características físicas;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Não utilize acrônimos e abreviações;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Nomes próprios ou outras palavras que restrinjam os dados;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Nome que identifique, implícita ou explicitamente, mais de um tema;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Use a forma plural do nome.</a:t>
            </a:r>
            <a:endParaRPr/>
          </a:p>
        </p:txBody>
      </p:sp>
      <p:sp>
        <p:nvSpPr>
          <p:cNvPr id="235" name="Google Shape;235;p31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Definição da Lista de Tabelas Final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 criação da Lista de Tabelas Final tem ainda os seguintes passos: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 u="sng"/>
              <a:t>Composição da Descrição </a:t>
            </a:r>
            <a:r>
              <a:rPr lang="pt-BR" sz="1800" u="sng"/>
              <a:t>das Tabelas</a:t>
            </a:r>
            <a:r>
              <a:rPr lang="pt-BR" sz="1800"/>
              <a:t>: </a:t>
            </a:r>
            <a:r>
              <a:rPr lang="pt-BR" sz="1800"/>
              <a:t>A descrição deve definir claramente o sujeito da tabela e explicar por que ele é importante, alé de servir para validar a necessidade da tabela: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Inclua uma declaração que defina a tabela com precisão;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Inclua uma declaração que explique por que esta tabela é importante;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Elabore uma descrição clara e concisa;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Não inclua informações específicas de implementação na descrição;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Não faça com que a descrição dependa da descrição de outra;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Não use exemplos na descrição da tabela.</a:t>
            </a:r>
            <a:endParaRPr sz="1800"/>
          </a:p>
        </p:txBody>
      </p:sp>
      <p:sp>
        <p:nvSpPr>
          <p:cNvPr id="241" name="Google Shape;241;p32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Associando Campos com cada Tabela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Atribuir campos às tabelas consiste em identificar quais campos melhor representam as características do sujeito de cada tabela e associá-los a ela;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Se um campo puder descrever mais de uma tabela, ele deve ser atribuído a todas as tabelas pertinentes;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 processo é feito de forma manual e visual: os nomes das tabelas são escritos lado a lado no topo de uma folha, e os campos da Lista Preliminar de Campos são listados abaixo de cada tabela correspondente, repetindo o procedimento até que todos os campos tenham sido atribuídos;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 adequação das atribuições será verificada na etapa de refinamento das estruturas.</a:t>
            </a:r>
            <a:endParaRPr sz="1800"/>
          </a:p>
        </p:txBody>
      </p:sp>
      <p:sp>
        <p:nvSpPr>
          <p:cNvPr id="247" name="Google Shape;247;p33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914400" y="1085850"/>
            <a:ext cx="7772400" cy="37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Associando Campos com cada Tabela</a:t>
            </a:r>
            <a:endParaRPr sz="1800"/>
          </a:p>
        </p:txBody>
      </p:sp>
      <p:sp>
        <p:nvSpPr>
          <p:cNvPr id="253" name="Google Shape;253;p34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  <p:pic>
        <p:nvPicPr>
          <p:cNvPr id="254" name="Google Shape;2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473" y="1730184"/>
            <a:ext cx="3417748" cy="2727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9100" y="1737799"/>
            <a:ext cx="4058925" cy="27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Refinamento de Campos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As diretrizes para nomear campos são semelhantes às usadas para nomear tabelas, facilitando o aprendizado de quem já as conhece: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Crie um nome único e descritivo que seja significativo;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Crie um nome que identifique com precisão, clareza e sem ambiguidade;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Use o número mínimo de palavras necessárias para transmitir o significado;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use acrônimos e use abreviações com moderação;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use palavras que possam confundir o significado do nome do campo;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use nomes que identifiquem mais de uma característica;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Use a forma singular do nome.</a:t>
            </a:r>
            <a:endParaRPr sz="1800"/>
          </a:p>
        </p:txBody>
      </p:sp>
      <p:sp>
        <p:nvSpPr>
          <p:cNvPr id="261" name="Google Shape;261;p35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Utilizando um Campo Ideal para Resolver Anomalias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</a:t>
            </a:r>
            <a:r>
              <a:rPr lang="pt-BR" sz="1800"/>
              <a:t>lguns campos podem causar problemas estruturais, como dados duplicados ou redundantes. A melhor forma de identificar esses campos é verificar se eles atendem aos Elementos do Campo Ideal: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Representa uma característica distinta do assunto da tabela;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pode ser decomposto em componentes menores;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contém um valor calculado ou concatenado;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É único em toda a estrutura do banco de dados;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Mantém a maioria de suas propriedades ao aparecer em mais de uma tabela.</a:t>
            </a:r>
            <a:endParaRPr sz="1800"/>
          </a:p>
        </p:txBody>
      </p:sp>
      <p:sp>
        <p:nvSpPr>
          <p:cNvPr id="267" name="Google Shape;267;p36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Resolvendo Campos Multi-Partes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Um campo multiparte armazena dois ou mais itens distintos em um único valor, dificultando a recuperação, ordenação e agrupamento dos dados. A solução é identificar os itens distintos dentro do valor do campo e transformar cada um em um campo separado;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Por exemplo, um campo </a:t>
            </a:r>
            <a:r>
              <a:rPr b="1" i="1" lang="pt-BR" sz="1800"/>
              <a:t>INSTADDRESS</a:t>
            </a:r>
            <a:r>
              <a:rPr lang="pt-BR" sz="1800"/>
              <a:t> deve ser decomposto em </a:t>
            </a:r>
            <a:r>
              <a:rPr b="1" i="1" lang="pt-BR" sz="1800"/>
              <a:t>INSTSTREET ADDRESS</a:t>
            </a:r>
            <a:r>
              <a:rPr lang="pt-BR" sz="1800"/>
              <a:t>, </a:t>
            </a:r>
            <a:r>
              <a:rPr b="1" i="1" lang="pt-BR" sz="1800"/>
              <a:t>INSTCITY</a:t>
            </a:r>
            <a:r>
              <a:rPr lang="pt-BR" sz="1800"/>
              <a:t>, </a:t>
            </a:r>
            <a:r>
              <a:rPr b="1" i="1" lang="pt-BR" sz="1800"/>
              <a:t>INSTSTATE</a:t>
            </a:r>
            <a:r>
              <a:rPr lang="pt-BR" sz="1800"/>
              <a:t> e </a:t>
            </a:r>
            <a:r>
              <a:rPr b="1" i="1" lang="pt-BR" sz="1800"/>
              <a:t>INSTZIPCODE</a:t>
            </a:r>
            <a:r>
              <a:rPr lang="pt-BR" sz="1800"/>
              <a:t>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Alguns campos multipartes são difíceis de reconhecer à primeira vista e só se revelam ao examinar os dados com atenção.</a:t>
            </a:r>
            <a:endParaRPr sz="1800"/>
          </a:p>
        </p:txBody>
      </p:sp>
      <p:sp>
        <p:nvSpPr>
          <p:cNvPr id="273" name="Google Shape;273;p37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Resolvendo Campos Multi-Valores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Um campo multivalorado armazena múltiplas ocorrências do mesmo tipo de valor em um único campo — geralmente identificado pelo nome no plural e por vírgulas separando os valores. A solução correta é seguir três passos: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R</a:t>
            </a:r>
            <a:r>
              <a:rPr lang="pt-BR" sz="1800"/>
              <a:t>emover o campo da tabela original e usá-lo como base para uma nova tabela;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A</a:t>
            </a:r>
            <a:r>
              <a:rPr lang="pt-BR" sz="1800"/>
              <a:t>dicionar campos da tabela original à nova tabela para estabelecer a conexão entre elas;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R</a:t>
            </a:r>
            <a:r>
              <a:rPr lang="pt-BR" sz="1800"/>
              <a:t>egistrar a nova tabela na Lista Final de Tabelas com nome, tipo e descrição adequados.</a:t>
            </a:r>
            <a:endParaRPr sz="1800"/>
          </a:p>
        </p:txBody>
      </p:sp>
      <p:sp>
        <p:nvSpPr>
          <p:cNvPr id="279" name="Google Shape;279;p38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Refinando a Estrutura das Tabelas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Dados redundantes são valores repetidos em um campo como resultado do relacionamento entre tabelas ou de anomalias estruturais. No primeiro caso, a redundância é aceitável e necessária; no segundo, compromete a consistência e a integridade dos dados e deve ser minimizada;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Campos duplicados são campos que aparecem em duas ou mais tabelas, seja para estabelecer relacionamentos, indicar múltiplas ocorrências de um valor ou suprir uma percepção de necessidade de informação adicional;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 único caso em que um campo duplicado é necessário é quando serve para relacionar duas tabelas.</a:t>
            </a:r>
            <a:endParaRPr sz="1600"/>
          </a:p>
        </p:txBody>
      </p:sp>
      <p:sp>
        <p:nvSpPr>
          <p:cNvPr id="285" name="Google Shape;285;p39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Refinando a Estrutura das Tabelas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u="sng"/>
              <a:t>Usando Uma Tabela Ideal para Refinar a Estrutura das Tabelas</a:t>
            </a:r>
            <a:endParaRPr sz="1800"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 estrutura da tabela pode conter anomalias que geram redundância. A melhor forma de identificar essas anomalias é verificar se a tabela atende aos Elementos da Tabela Ideal: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Representa um único sujeito, que pode ser um objeto ou um evento;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Possui uma chave primária;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contém campos multipartes ou multivalorados;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contém campos calculados;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Não contém campos duplicados desnecessários;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Contém apenas a quantidade mínima absoluta de dados redundantes.</a:t>
            </a:r>
            <a:endParaRPr sz="1800"/>
          </a:p>
        </p:txBody>
      </p:sp>
      <p:sp>
        <p:nvSpPr>
          <p:cNvPr id="291" name="Google Shape;291;p40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Refinando a Estrutura das Tabelas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u="sng"/>
              <a:t>Resolvendo Campos Desnecessariamente Duplicados</a:t>
            </a:r>
            <a:endParaRPr sz="1800" u="sng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Campos de referência são campos duplicados que trazem informações já existentes em outra tabela, sendo eles desnecessários;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As informações podem ser acessadas combinando tabelas por meio de views. Campos duplicados que representam múltiplas ocorrências do mesmo tipo de valor são na prática campos multivalorados "achatados". Eles limitam a quantidade de valores possíveis e dificultam a recuperação de dados;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 solução é tratá-los como um campo multivalorado e aplicar o processo de resolução já aprendido, criando uma nova tabela relacionada.</a:t>
            </a:r>
            <a:endParaRPr sz="1800"/>
          </a:p>
        </p:txBody>
      </p:sp>
      <p:sp>
        <p:nvSpPr>
          <p:cNvPr id="297" name="Google Shape;297;p41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Refinando a Estrutura das Tabelas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u="sng"/>
              <a:t>Estabelecendo Tabelas de Subconjuntos</a:t>
            </a:r>
            <a:endParaRPr sz="1800" u="sng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Campos frequentemente em branco indicam que a tabela pode representar mais de um sujeito. O primeiro passo é verificar se ela realmente representa um sujeito único;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Quando sujeitos subordinados são identificados, seus campos específicos são removidos da tabela principal e usados para criar tabelas subset, que se relacionam à tabela principal por meio de um campo comum;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Tabelas com estruturas quase idênticas são candidatas a subset tables — os campos comuns devem ser consolidados na tabela principal para eliminar redundância.</a:t>
            </a:r>
            <a:endParaRPr sz="1800"/>
          </a:p>
        </p:txBody>
      </p:sp>
      <p:sp>
        <p:nvSpPr>
          <p:cNvPr id="303" name="Google Shape;303;p42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Refinando a Estrutura das Tabelas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u="sng"/>
              <a:t>Refinando Tabelas de Subconjuntos Não Identificados Anteriormente</a:t>
            </a:r>
            <a:endParaRPr sz="1800" u="sng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Quando subset tables com estruturas semelhantes são identificadas, elas são refinadas em quatro passos: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O</a:t>
            </a:r>
            <a:r>
              <a:rPr lang="pt-BR" sz="1800"/>
              <a:t>s campos em comum são removidos e usados para criar uma nova data table;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E</a:t>
            </a:r>
            <a:r>
              <a:rPr lang="pt-BR" sz="1800"/>
              <a:t>ssa nova tabela recebe um nome que identifica o sujeito que ela representa;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</a:t>
            </a:r>
            <a:r>
              <a:rPr lang="pt-BR" sz="1800"/>
              <a:t>onfirma-se que as subset tables representam sujeitos subordinados da nova data table, ajustando seus nomes se necessário;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E</a:t>
            </a:r>
            <a:r>
              <a:rPr lang="pt-BR" sz="1800"/>
              <a:t> a nova data table é adicionada à Lista Final de Tabelas com uma descrição adequada e o tipo "Data".</a:t>
            </a:r>
            <a:endParaRPr sz="1800"/>
          </a:p>
        </p:txBody>
      </p:sp>
      <p:sp>
        <p:nvSpPr>
          <p:cNvPr id="309" name="Google Shape;309;p43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  <p:sp>
        <p:nvSpPr>
          <p:cNvPr id="315" name="Google Shape;315;p44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Exercício em Sala: 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Tomando o case da Loja de Bicicletas de Mike e as entrevistas já antes realizadas, elabore os seguintes artefatos: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Lista Preliminar de Tabelas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Lista Final de Tabelas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Lista de tabelas com as associações dos campos com cada tabela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Lista de tabelas com campos e estruturas refinadas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de Uma Base de Dados</a:t>
            </a:r>
            <a:endParaRPr/>
          </a:p>
        </p:txBody>
      </p:sp>
      <p:sp>
        <p:nvSpPr>
          <p:cNvPr id="321" name="Google Shape;321;p45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3000"/>
              <a:t>PARTE 3</a:t>
            </a:r>
            <a:endParaRPr sz="3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3000"/>
              <a:t>Criando Tabelas a Partir da</a:t>
            </a:r>
            <a:endParaRPr b="1" sz="3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3000"/>
              <a:t>Especificação Projetada</a:t>
            </a:r>
            <a:endParaRPr b="1" sz="3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327" name="Google Shape;327;p46"/>
          <p:cNvSpPr txBox="1"/>
          <p:nvPr>
            <p:ph idx="1" type="body"/>
          </p:nvPr>
        </p:nvSpPr>
        <p:spPr>
          <a:xfrm>
            <a:off x="914400" y="1085850"/>
            <a:ext cx="4585200" cy="373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Stack Laboratorial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85750" lvl="0" marL="457200" rtl="0" algn="l">
              <a:spcBef>
                <a:spcPts val="400"/>
              </a:spcBef>
              <a:spcAft>
                <a:spcPts val="0"/>
              </a:spcAft>
              <a:buSzPts val="900"/>
              <a:buChar char="-"/>
            </a:pPr>
            <a:r>
              <a:rPr lang="pt-BR" sz="1800"/>
              <a:t>Conta Deepnote para conexão em nuvem e integração com camada de analytics;</a:t>
            </a:r>
            <a:endParaRPr sz="18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pt-BR" sz="1800"/>
              <a:t>Tunneling com ngrok, para pubicação do contâiner MySQL como um servidor público;</a:t>
            </a:r>
            <a:endParaRPr sz="18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pt-BR" sz="1800"/>
              <a:t>MySQL Workbench 8.0, para design e interface visual;</a:t>
            </a:r>
            <a:endParaRPr sz="18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pt-BR" sz="1800"/>
              <a:t>Plataforma Docker instalada na máquina local, disponibilizando um contâiner MySQL 8.0;</a:t>
            </a:r>
            <a:endParaRPr sz="1800"/>
          </a:p>
        </p:txBody>
      </p:sp>
      <p:pic>
        <p:nvPicPr>
          <p:cNvPr id="328" name="Google Shape;32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005" y="1937337"/>
            <a:ext cx="1088675" cy="10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95" y="3955352"/>
            <a:ext cx="625295" cy="2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5425" y="3612753"/>
            <a:ext cx="1878400" cy="9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5423" y="1937290"/>
            <a:ext cx="1878400" cy="10886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46"/>
          <p:cNvCxnSpPr>
            <a:endCxn id="331" idx="2"/>
          </p:cNvCxnSpPr>
          <p:nvPr/>
        </p:nvCxnSpPr>
        <p:spPr>
          <a:xfrm rot="10800000">
            <a:off x="6484623" y="3025962"/>
            <a:ext cx="0" cy="58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46"/>
          <p:cNvCxnSpPr>
            <a:stCxn id="330" idx="3"/>
            <a:endCxn id="329" idx="1"/>
          </p:cNvCxnSpPr>
          <p:nvPr/>
        </p:nvCxnSpPr>
        <p:spPr>
          <a:xfrm>
            <a:off x="7423825" y="4082353"/>
            <a:ext cx="490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46"/>
          <p:cNvCxnSpPr>
            <a:stCxn id="329" idx="0"/>
            <a:endCxn id="328" idx="2"/>
          </p:cNvCxnSpPr>
          <p:nvPr/>
        </p:nvCxnSpPr>
        <p:spPr>
          <a:xfrm rot="10800000">
            <a:off x="8227342" y="3025952"/>
            <a:ext cx="0" cy="929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5" name="Google Shape;335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42390" y="3536725"/>
            <a:ext cx="418625" cy="4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65500" y="1937300"/>
            <a:ext cx="453626" cy="45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01900" y="1918712"/>
            <a:ext cx="490800" cy="4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12270" y="3650175"/>
            <a:ext cx="559200" cy="5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914400" y="1085850"/>
            <a:ext cx="7772400" cy="373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Configuração do Servidor MySQL em Contâiner Docker Desktop</a:t>
            </a:r>
            <a:endParaRPr b="1" sz="18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Instalar o Docker Desktop v4.32.0 (157355): </a:t>
            </a:r>
            <a:r>
              <a:rPr lang="pt-BR" sz="1600" u="sng">
                <a:solidFill>
                  <a:schemeClr val="hlink"/>
                </a:solidFill>
                <a:hlinkClick r:id="rId3"/>
              </a:rPr>
              <a:t>https://www.docker.com/products/docker-desktop/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Criar conta na HUB Docker:</a:t>
            </a:r>
            <a:br>
              <a:rPr lang="pt-BR" sz="1600"/>
            </a:br>
            <a:r>
              <a:rPr lang="pt-BR" sz="1600" u="sng">
                <a:solidFill>
                  <a:schemeClr val="hlink"/>
                </a:solidFill>
                <a:hlinkClick r:id="rId4"/>
              </a:rPr>
              <a:t>https://login.docker.com/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No prompt de Comando: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pt-BR" sz="1600"/>
              <a:t>Criar uma ponte de rede para expor o contâiner:</a:t>
            </a:r>
            <a:br>
              <a:rPr lang="pt-BR" sz="1600"/>
            </a:br>
            <a:r>
              <a:rPr b="1" i="1" lang="pt-BR" sz="1600"/>
              <a:t>$ docker network create --driver bridge infnet-network</a:t>
            </a:r>
            <a:endParaRPr b="1" i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pt-BR" sz="1600"/>
              <a:t>Fazer o download, configuração, e execução de uma imagem MySQL 8.0:</a:t>
            </a:r>
            <a:br>
              <a:rPr lang="pt-BR" sz="1600"/>
            </a:br>
            <a:r>
              <a:rPr b="1" i="1" lang="pt-BR" sz="1600"/>
              <a:t>$ docker container run -p 3306:3306 --name infnet-mysql --network infnet-network -e MYSQL_ROOT_PASSWORD=1q2w3e4r5t -e MYSQL_DATABASE=ModelagemRelacional2T2026 -d mysql:8.0</a:t>
            </a:r>
            <a:endParaRPr b="1" i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pt-BR" sz="1600"/>
              <a:t>Fazer o login no contâiner (shell  da aba exec da view do contâiner):</a:t>
            </a:r>
            <a:br>
              <a:rPr lang="pt-BR" sz="1600"/>
            </a:br>
            <a:r>
              <a:rPr b="1" i="1" lang="pt-BR" sz="1600"/>
              <a:t>$ mysql -u root -p ModelagemRelacional2T2026</a:t>
            </a:r>
            <a:endParaRPr b="1" i="1"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350" name="Google Shape;350;p48"/>
          <p:cNvSpPr txBox="1"/>
          <p:nvPr>
            <p:ph idx="1" type="body"/>
          </p:nvPr>
        </p:nvSpPr>
        <p:spPr>
          <a:xfrm>
            <a:off x="914400" y="1085850"/>
            <a:ext cx="7772400" cy="38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Configuração do Servidor MySQL em Contâiner Docker Desktop</a:t>
            </a:r>
            <a:endParaRPr b="1" i="1" sz="1600"/>
          </a:p>
        </p:txBody>
      </p:sp>
      <p:pic>
        <p:nvPicPr>
          <p:cNvPr id="351" name="Google Shape;3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600" y="1474925"/>
            <a:ext cx="3667274" cy="18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325" y="1474925"/>
            <a:ext cx="3032982" cy="18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600" y="3433360"/>
            <a:ext cx="6791700" cy="1160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359" name="Google Shape;359;p49"/>
          <p:cNvSpPr txBox="1"/>
          <p:nvPr>
            <p:ph idx="1" type="body"/>
          </p:nvPr>
        </p:nvSpPr>
        <p:spPr>
          <a:xfrm>
            <a:off x="914400" y="1085850"/>
            <a:ext cx="7772400" cy="38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Configuração do MySQL Workbench 8.0</a:t>
            </a:r>
            <a:endParaRPr b="1" i="1" sz="1600"/>
          </a:p>
        </p:txBody>
      </p:sp>
      <p:pic>
        <p:nvPicPr>
          <p:cNvPr id="360" name="Google Shape;3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611" y="2726910"/>
            <a:ext cx="3036395" cy="18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600" y="1474925"/>
            <a:ext cx="6791700" cy="11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0025" y="2726900"/>
            <a:ext cx="3667276" cy="18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pic>
        <p:nvPicPr>
          <p:cNvPr id="368" name="Google Shape;36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600" y="1474925"/>
            <a:ext cx="3667274" cy="18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600" y="1474925"/>
            <a:ext cx="3034554" cy="18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0"/>
          <p:cNvSpPr txBox="1"/>
          <p:nvPr>
            <p:ph idx="1" type="body"/>
          </p:nvPr>
        </p:nvSpPr>
        <p:spPr>
          <a:xfrm>
            <a:off x="914400" y="1085850"/>
            <a:ext cx="7772400" cy="373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Configuração do ngrok e tunneling para a rede pública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Webpage do ngrok e instruções (necessário configurar chave de API/token):</a:t>
            </a:r>
            <a:br>
              <a:rPr lang="pt-BR" sz="1600"/>
            </a:br>
            <a:r>
              <a:rPr lang="pt-BR" sz="1600" u="sng">
                <a:solidFill>
                  <a:schemeClr val="hlink"/>
                </a:solidFill>
                <a:hlinkClick r:id="rId5"/>
              </a:rPr>
              <a:t>https://ngrok.com/download/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 sz="1600"/>
              <a:t>No prompt de Comando: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pt-BR" sz="1600"/>
              <a:t>Exposição do contâiner MySQL através da porta TCP 3306:</a:t>
            </a:r>
            <a:br>
              <a:rPr lang="pt-BR" sz="1600"/>
            </a:br>
            <a:r>
              <a:rPr b="1" i="1" lang="pt-BR" sz="1600"/>
              <a:t>$ ngrok tcp 3306</a:t>
            </a:r>
            <a:endParaRPr b="1" i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pt-BR" sz="1600"/>
              <a:t>Anote a URL de fowarding e use-a no Deepnote e/ou MySQL Workbench.</a:t>
            </a:r>
            <a:endParaRPr sz="1600"/>
          </a:p>
        </p:txBody>
      </p:sp>
      <p:pic>
        <p:nvPicPr>
          <p:cNvPr id="371" name="Google Shape;37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0025" y="1474925"/>
            <a:ext cx="3667276" cy="18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1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377" name="Google Shape;377;p51"/>
          <p:cNvSpPr txBox="1"/>
          <p:nvPr>
            <p:ph idx="1" type="body"/>
          </p:nvPr>
        </p:nvSpPr>
        <p:spPr>
          <a:xfrm>
            <a:off x="914400" y="1085850"/>
            <a:ext cx="7772400" cy="373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Configuração da integração com o Deepnote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Faça um teste, mostrando os schemas:</a:t>
            </a:r>
            <a:br>
              <a:rPr lang="pt-BR" sz="1600"/>
            </a:br>
            <a:r>
              <a:rPr b="1" i="1" lang="pt-BR" sz="1600"/>
              <a:t>$ show databases;</a:t>
            </a:r>
            <a:endParaRPr b="1" i="1"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/>
              <a:t>O </a:t>
            </a:r>
            <a:r>
              <a:rPr lang="pt-BR" sz="1600"/>
              <a:t>schema que criamos no Docker Desktop</a:t>
            </a:r>
            <a:br>
              <a:rPr lang="pt-BR" sz="1600"/>
            </a:br>
            <a:r>
              <a:rPr lang="pt-BR" sz="1600"/>
              <a:t>deverá constar na listagem.</a:t>
            </a:r>
            <a:endParaRPr b="1" i="1" sz="1600"/>
          </a:p>
        </p:txBody>
      </p:sp>
      <p:pic>
        <p:nvPicPr>
          <p:cNvPr id="378" name="Google Shape;37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600" y="1474925"/>
            <a:ext cx="2879349" cy="18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9249" y="1474925"/>
            <a:ext cx="3798049" cy="18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9870" y="3475200"/>
            <a:ext cx="2731249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</a:t>
            </a:r>
            <a:r>
              <a:rPr lang="pt-BR"/>
              <a:t>abelas a Partir da Especificação Projetada</a:t>
            </a:r>
            <a:endParaRPr/>
          </a:p>
        </p:txBody>
      </p:sp>
      <p:sp>
        <p:nvSpPr>
          <p:cNvPr id="386" name="Google Shape;386;p52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Um bom design de banco de dados exige planejamento cuidadoso, guiado por perguntas sobre requisitos de negócio, tabelas necessárias, colunas, normalização e relacionamentos entre tabelas;</a:t>
            </a:r>
            <a:endParaRPr/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Um diagrama das tabelas e seus relacionamentos é uma boa prática;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A população dos dados também deve ser planejada desde o início;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É preciso definir quem ou o quê vai inserir os dados, de onde eles virão e se serão necessários processos automatizados;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A segurança é outro fator crítico, especialmente em bancos centralizados ou conectados à web. Questões como controle de acesso, permissões de leitura e escrita, backups e proteção contra ataques devem ser consideradas.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392" name="Google Shape;392;p53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Case: A conferência SurgeTech</a:t>
            </a:r>
            <a:endParaRPr b="1"/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Você faz parte da equipe da conferência SurgeTech, um encontro de startups de tecnologia em busca de visibilidade e investidores;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O organizador lhe incumbiu de criar um banco de dados para gerenciar os participantes, as empresas, as apresentações, as salas e a presença nas apresentações;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Como esse banco de dados deve ser projetado? Primeiro, revise as diferentes entidades e comece a pensar em como elas serão estruturadas em tabelas. Isso pode parecer um grande número de solicitações de negócios para abranger, mas qualquer problema complexo pode ser dividido em componentes simples.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398" name="Google Shape;398;p54"/>
          <p:cNvSpPr txBox="1"/>
          <p:nvPr>
            <p:ph idx="1" type="body"/>
          </p:nvPr>
        </p:nvSpPr>
        <p:spPr>
          <a:xfrm>
            <a:off x="914400" y="1085850"/>
            <a:ext cx="38979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PARTICIPATE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Os participantes são convidados registrados (incluindo alguns VIPs) que estão conhecendo as startups de tecnologia. O </a:t>
            </a:r>
            <a:r>
              <a:rPr b="1" i="1" lang="pt-BR" sz="1800"/>
              <a:t>ID</a:t>
            </a:r>
            <a:r>
              <a:rPr lang="pt-BR" sz="1800"/>
              <a:t>, </a:t>
            </a:r>
            <a:r>
              <a:rPr b="1" i="1" lang="pt-BR" sz="1800"/>
              <a:t>nome</a:t>
            </a:r>
            <a:r>
              <a:rPr lang="pt-BR" sz="1800"/>
              <a:t>, </a:t>
            </a:r>
            <a:r>
              <a:rPr b="1" i="1" lang="pt-BR" sz="1800"/>
              <a:t>número de telefone</a:t>
            </a:r>
            <a:r>
              <a:rPr lang="pt-BR" sz="1800"/>
              <a:t>, </a:t>
            </a:r>
            <a:r>
              <a:rPr b="1" i="1" lang="pt-BR" sz="1800"/>
              <a:t>e-mail</a:t>
            </a:r>
            <a:r>
              <a:rPr lang="pt-BR" sz="1800"/>
              <a:t> e </a:t>
            </a:r>
            <a:r>
              <a:rPr b="1" i="1" lang="pt-BR" sz="1800"/>
              <a:t>status VIP</a:t>
            </a:r>
            <a:r>
              <a:rPr lang="pt-BR" sz="1800"/>
              <a:t> de cada participante precisarão ser registrados.</a:t>
            </a:r>
            <a:endParaRPr sz="1800"/>
          </a:p>
        </p:txBody>
      </p:sp>
      <p:pic>
        <p:nvPicPr>
          <p:cNvPr id="399" name="Google Shape;39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1450" y="1482101"/>
            <a:ext cx="2042625" cy="28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914400" y="1085850"/>
            <a:ext cx="38979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EMPRESA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As empresas startups também precisam ser monitoradas. O </a:t>
            </a:r>
            <a:r>
              <a:rPr b="1" i="1" lang="pt-BR" sz="1800"/>
              <a:t>ID</a:t>
            </a:r>
            <a:r>
              <a:rPr lang="pt-BR" sz="1800"/>
              <a:t> da empresa, o </a:t>
            </a:r>
            <a:r>
              <a:rPr b="1" i="1" lang="pt-BR" sz="1800"/>
              <a:t>nome</a:t>
            </a:r>
            <a:r>
              <a:rPr lang="pt-BR" sz="1800"/>
              <a:t> da empresa, a </a:t>
            </a:r>
            <a:r>
              <a:rPr b="1" i="1" lang="pt-BR" sz="1800"/>
              <a:t>descrição</a:t>
            </a:r>
            <a:r>
              <a:rPr lang="pt-BR" sz="1800"/>
              <a:t> da empresa e o </a:t>
            </a:r>
            <a:r>
              <a:rPr b="1" i="1" lang="pt-BR" sz="1800"/>
              <a:t>contato principal</a:t>
            </a:r>
            <a:r>
              <a:rPr lang="pt-BR" sz="1800"/>
              <a:t> (que deve constar na lista de participantes) de cada uma devem ser registrados.</a:t>
            </a:r>
            <a:endParaRPr sz="1800"/>
          </a:p>
        </p:txBody>
      </p:sp>
      <p:pic>
        <p:nvPicPr>
          <p:cNvPr id="406" name="Google Shape;40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325" y="1524500"/>
            <a:ext cx="3473850" cy="19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6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412" name="Google Shape;412;p56"/>
          <p:cNvSpPr txBox="1"/>
          <p:nvPr>
            <p:ph idx="1" type="body"/>
          </p:nvPr>
        </p:nvSpPr>
        <p:spPr>
          <a:xfrm>
            <a:off x="914400" y="1085850"/>
            <a:ext cx="38979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APRESENTAÇÃO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Algumas empresas agendam apresentações para horários específicos (com início e término definidos). A empresa que conduzirá a apresentação, bem como o número da sala, devem ser reservados para cada horário de apresentação.</a:t>
            </a:r>
            <a:endParaRPr sz="1800"/>
          </a:p>
        </p:txBody>
      </p:sp>
      <p:pic>
        <p:nvPicPr>
          <p:cNvPr id="413" name="Google Shape;41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522" y="1352297"/>
            <a:ext cx="2778225" cy="24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7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914400" y="1085850"/>
            <a:ext cx="38979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SALA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Haverá salas disponíveis para as apresentações, cada uma com um número de identificação, um número de andar e uma capacidade de público.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PRESENÇA_NAS_APRESENTAÇÕES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Se os participantes estiverem interessados ​​em assistir à apresentação de uma empresa, eles podem adquirir um ingresso (com um ID de ingresso) e ter acesso.</a:t>
            </a:r>
            <a:endParaRPr sz="1800"/>
          </a:p>
        </p:txBody>
      </p:sp>
      <p:pic>
        <p:nvPicPr>
          <p:cNvPr id="420" name="Google Shape;42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000" y="1200525"/>
            <a:ext cx="1954625" cy="15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7687" y="2862700"/>
            <a:ext cx="2937250" cy="17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8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427" name="Google Shape;427;p58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Chaves Primárias e Estrangeiras</a:t>
            </a:r>
            <a:endParaRPr b="1"/>
          </a:p>
          <a:p>
            <a:pPr indent="-285750" lvl="0" marL="457200" rtl="0" algn="l">
              <a:spcBef>
                <a:spcPts val="400"/>
              </a:spcBef>
              <a:spcAft>
                <a:spcPts val="0"/>
              </a:spcAft>
              <a:buSzPts val="900"/>
              <a:buChar char="●"/>
            </a:pPr>
            <a:r>
              <a:rPr lang="pt-BR" sz="1800"/>
              <a:t>Toda tabela deve ter uma chave primária — um campo (ou combinação de campos) que identifica cada registro de forma única. Ela garante integridade dos dados, impede duplicatas e permite que o banco execute consultas com mais eficiência;</a:t>
            </a:r>
            <a:endParaRPr sz="18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1800"/>
              <a:t>A chave estrangeira existe na tabela filha e aponta para a chave primária da tabela pai, estabelecendo o relacionamento entre elas. Ao contrário da chave primária, a chave estrangeira não exige unicidade, pois representa o lado "muitos" de um relacionamento um-para-muitos;</a:t>
            </a:r>
            <a:endParaRPr sz="18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pt-BR" sz="1800"/>
              <a:t>A chave primária e a chave estrangeira não precisam ter o mesmo nome. O nome da chave estrangeira pode ser adaptado para descrever melhor seu papel no contexto da tabela filha, desde que o significado seja claro.</a:t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9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pic>
        <p:nvPicPr>
          <p:cNvPr id="433" name="Google Shape;43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675" y="1131959"/>
            <a:ext cx="7060645" cy="3775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0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pic>
        <p:nvPicPr>
          <p:cNvPr id="439" name="Google Shape;43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288" y="1063372"/>
            <a:ext cx="6253429" cy="37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a Partir da Especificação Projetada</a:t>
            </a:r>
            <a:endParaRPr/>
          </a:p>
        </p:txBody>
      </p:sp>
      <p:sp>
        <p:nvSpPr>
          <p:cNvPr id="445" name="Google Shape;445;p61"/>
          <p:cNvSpPr txBox="1"/>
          <p:nvPr>
            <p:ph idx="1" type="body"/>
          </p:nvPr>
        </p:nvSpPr>
        <p:spPr>
          <a:xfrm>
            <a:off x="914400" y="1085850"/>
            <a:ext cx="24195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Comandos SQL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ROOM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ROOM_ID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FLOOR_NUMBER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SEAT_CAPACITY INT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ATTENDEE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ATTENDEE 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FIRST_NAME VARCHAR(100),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LAST_NAME VARCHAR(100),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PHONE VARCHAR(20),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EMAIL VARCHAR(100),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VIP TINYINT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6" name="Google Shape;446;p61"/>
          <p:cNvSpPr txBox="1"/>
          <p:nvPr>
            <p:ph idx="1" type="body"/>
          </p:nvPr>
        </p:nvSpPr>
        <p:spPr>
          <a:xfrm>
            <a:off x="3333900" y="1085850"/>
            <a:ext cx="30285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COMPANY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COMPANY_ID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NAME VARCHAR(100),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DESCRIPTION TEXT,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PRIMARY_CONTACT_ATTENDEE_ID INT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PRESENTATION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PRESENTATION_ID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BOOKED_COMPANY_ID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BOOKED_ROOM_ID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START_TIME DATETIME,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END_TIME DATETIME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sz="1800"/>
          </a:p>
        </p:txBody>
      </p:sp>
      <p:sp>
        <p:nvSpPr>
          <p:cNvPr id="447" name="Google Shape;447;p61"/>
          <p:cNvSpPr txBox="1"/>
          <p:nvPr>
            <p:ph idx="1" type="body"/>
          </p:nvPr>
        </p:nvSpPr>
        <p:spPr>
          <a:xfrm>
            <a:off x="6362400" y="1085850"/>
            <a:ext cx="20616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PRESENTATION_ATTENDANCE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TICKET_ID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PRESENTATION_ID INT,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ATTENDEE_ID INT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a partir de Tabelas e Campos</a:t>
            </a:r>
            <a:endParaRPr/>
          </a:p>
        </p:txBody>
      </p:sp>
      <p:sp>
        <p:nvSpPr>
          <p:cNvPr id="453" name="Google Shape;453;p62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800"/>
              <a:t>Exercício em Sala: 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/>
              <a:t>Tomando o case da Loja de Bicicletas de Mike e a Lista de Tabelas previamente elabora e refinada: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Levante um servidor SQL + infraestrutura de Banco de Dados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Crie um schema/database nomeado </a:t>
            </a:r>
            <a:r>
              <a:rPr b="1" i="1" lang="pt-BR" sz="1800"/>
              <a:t>ModelagemRelacional</a:t>
            </a:r>
            <a:endParaRPr b="1" i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sz="1800"/>
              <a:t>Crie as tabelas da lista, e adicione os campos com seus respectivos tipos</a:t>
            </a:r>
            <a:endParaRPr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3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de Uma Base de Dados</a:t>
            </a:r>
            <a:endParaRPr/>
          </a:p>
        </p:txBody>
      </p:sp>
      <p:sp>
        <p:nvSpPr>
          <p:cNvPr id="459" name="Google Shape;459;p63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3000"/>
              <a:t>PARTE 4</a:t>
            </a:r>
            <a:endParaRPr sz="3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3000"/>
              <a:t>Usando a Restrição UNIQUE e NOT NULL</a:t>
            </a:r>
            <a:endParaRPr b="1" sz="3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3000"/>
              <a:t>em Queries SQL</a:t>
            </a:r>
            <a:endParaRPr b="1" sz="3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4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</a:t>
            </a:r>
            <a:r>
              <a:rPr lang="pt-BR"/>
              <a:t>estrições UNIQUE e NOT NULL em Queries SQL</a:t>
            </a:r>
            <a:endParaRPr/>
          </a:p>
        </p:txBody>
      </p:sp>
      <p:sp>
        <p:nvSpPr>
          <p:cNvPr id="465" name="Google Shape;465;p64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800"/>
              <a:t>NOT NULL</a:t>
            </a:r>
            <a:r>
              <a:rPr lang="pt-BR" sz="1800"/>
              <a:t> e </a:t>
            </a:r>
            <a:r>
              <a:rPr b="1" i="1" lang="pt-BR" sz="1800"/>
              <a:t>UNIQUE </a:t>
            </a:r>
            <a:r>
              <a:rPr lang="pt-BR" sz="1800"/>
              <a:t>são restrições (</a:t>
            </a:r>
            <a:r>
              <a:rPr i="1" lang="pt-BR" sz="1800"/>
              <a:t>constraints</a:t>
            </a:r>
            <a:r>
              <a:rPr lang="pt-BR" sz="1800"/>
              <a:t>) aplicadas a campos para garantir a integridade dos dados.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i="1" lang="pt-BR" sz="1800"/>
              <a:t>NOT NULL</a:t>
            </a:r>
            <a:r>
              <a:rPr lang="pt-BR" sz="1800"/>
              <a:t> garante que um campo sempre terá um valor — nunca poderá ficar vazio. É usado quando uma informação é obrigatória;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pt-BR" sz="1800"/>
              <a:t>UNIQUE </a:t>
            </a:r>
            <a:r>
              <a:rPr lang="pt-BR" sz="1800"/>
              <a:t>garante que dois registros não terão o mesmo valor em um campo. É usado quando um valor deve ser exclusivo na tabela, como e-mail ou CPF;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As duas restrições podem ser combinadas no mesmo campo. Por exemplo, um e-mail que é obrigatório e não pode se repetir. Também é possível adicionar essas restrições em tabelas já existentes com </a:t>
            </a:r>
            <a:r>
              <a:rPr b="1" i="1" lang="pt-BR" sz="1800"/>
              <a:t>ALTER TABLE</a:t>
            </a:r>
            <a:r>
              <a:rPr lang="pt-BR" sz="1800"/>
              <a:t>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Diferença em relação à chave primária: a chave primária já é implicitamente </a:t>
            </a:r>
            <a:r>
              <a:rPr b="1" i="1" lang="pt-BR" sz="1800"/>
              <a:t>NOT NULL</a:t>
            </a:r>
            <a:r>
              <a:rPr lang="pt-BR" sz="1800"/>
              <a:t> e </a:t>
            </a:r>
            <a:r>
              <a:rPr b="1" i="1" lang="pt-BR" sz="1800"/>
              <a:t>UNIQUE</a:t>
            </a:r>
            <a:r>
              <a:rPr lang="pt-BR" sz="1800"/>
              <a:t>. As restrições acima são usadas em outros campos que precisam dessas garantias sem ser a chave principal da tabela.</a:t>
            </a:r>
            <a:endParaRPr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5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Restrições UNIQUE e NOT NULL em Queries SQL</a:t>
            </a:r>
            <a:endParaRPr/>
          </a:p>
        </p:txBody>
      </p:sp>
      <p:sp>
        <p:nvSpPr>
          <p:cNvPr id="471" name="Google Shape;471;p65"/>
          <p:cNvSpPr txBox="1"/>
          <p:nvPr>
            <p:ph idx="1" type="body"/>
          </p:nvPr>
        </p:nvSpPr>
        <p:spPr>
          <a:xfrm>
            <a:off x="914400" y="2004525"/>
            <a:ext cx="3882600" cy="251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ATTENDEE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ATTENDEE_ID INT NOT NULL,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FIRST_NAME VARCHAR(100) NOT NULL,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EMAIL VARCHAR(100) NULL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ATTENDEE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ATTENDEE_ID INT NOT NULL,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EMAIL VARCHAR(100) UNIQUE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i="1" sz="1200"/>
          </a:p>
        </p:txBody>
      </p:sp>
      <p:sp>
        <p:nvSpPr>
          <p:cNvPr id="472" name="Google Shape;472;p65"/>
          <p:cNvSpPr txBox="1"/>
          <p:nvPr>
            <p:ph idx="1" type="body"/>
          </p:nvPr>
        </p:nvSpPr>
        <p:spPr>
          <a:xfrm>
            <a:off x="4808200" y="2004525"/>
            <a:ext cx="3882600" cy="251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CREATE TABLE ATTENDEE (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ATTENDEE_ID INT NOT NULL,</a:t>
            </a:r>
            <a:endParaRPr i="1" sz="12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EMAIL VARCHAR(100) NOT NULL UNIQUE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);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ALTER TABLE ATTENDEE MODIFY EMAIL VARCHAR(100) NOT NULL;</a:t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200"/>
              <a:t>ALTER TABLE ATTENDEE ADD CONSTRAINT uq_email UNIQUE (EMAIL);</a:t>
            </a:r>
            <a:endParaRPr i="1" sz="1200"/>
          </a:p>
        </p:txBody>
      </p:sp>
      <p:sp>
        <p:nvSpPr>
          <p:cNvPr id="473" name="Google Shape;473;p65"/>
          <p:cNvSpPr txBox="1"/>
          <p:nvPr>
            <p:ph idx="1" type="body"/>
          </p:nvPr>
        </p:nvSpPr>
        <p:spPr>
          <a:xfrm>
            <a:off x="914400" y="1085850"/>
            <a:ext cx="7772400" cy="713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800"/>
              <a:t>NOT NULL</a:t>
            </a:r>
            <a:r>
              <a:rPr lang="pt-BR" sz="1800"/>
              <a:t> e </a:t>
            </a:r>
            <a:r>
              <a:rPr b="1" i="1" lang="pt-BR" sz="1800"/>
              <a:t>UNIQUE </a:t>
            </a:r>
            <a:r>
              <a:rPr lang="pt-BR" sz="1800"/>
              <a:t>são restrições (</a:t>
            </a:r>
            <a:r>
              <a:rPr i="1" lang="pt-BR" sz="1800"/>
              <a:t>constraints</a:t>
            </a:r>
            <a:r>
              <a:rPr lang="pt-BR" sz="1800"/>
              <a:t>) aplicadas a campos para garantir a integridade dos dados.</a:t>
            </a:r>
            <a:endParaRPr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6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Restrições UNIQUE e NOT NULL em Queries SQL</a:t>
            </a:r>
            <a:endParaRPr/>
          </a:p>
        </p:txBody>
      </p:sp>
      <p:sp>
        <p:nvSpPr>
          <p:cNvPr id="479" name="Google Shape;479;p66"/>
          <p:cNvSpPr txBox="1"/>
          <p:nvPr>
            <p:ph idx="1" type="body"/>
          </p:nvPr>
        </p:nvSpPr>
        <p:spPr>
          <a:xfrm>
            <a:off x="914400" y="1085850"/>
            <a:ext cx="2453700" cy="379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Comandos SQL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CREATE TABLE ROOM (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ROOM_ID INT </a:t>
            </a:r>
            <a:r>
              <a:rPr b="1" i="1" lang="pt-BR" sz="1000"/>
              <a:t>NOT NULL</a:t>
            </a:r>
            <a:r>
              <a:rPr i="1" lang="pt-BR" sz="1000"/>
              <a:t> AUTO_INCREMENT,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FLOOR_NUMBER INT,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SEAT_CAPACITY INT,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000"/>
              <a:t>PRIMARY KEY (ROOM_ID)</a:t>
            </a:r>
            <a:endParaRPr b="1"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);</a:t>
            </a:r>
            <a:endParaRPr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CREATE TABLE ATTENDEE (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ATTENDEE_ID INT </a:t>
            </a:r>
            <a:r>
              <a:rPr b="1" i="1" lang="pt-BR" sz="1000"/>
              <a:t>NOT NULL</a:t>
            </a:r>
            <a:r>
              <a:rPr i="1" lang="pt-BR" sz="1000"/>
              <a:t> AUTO_INCREMENT,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FIRST_NAME VARCHAR(100),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LAST_NAME VARCHAR(100),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PHONE VARCHAR(20) </a:t>
            </a:r>
            <a:r>
              <a:rPr b="1" i="1" lang="pt-BR" sz="1000"/>
              <a:t>UNIQUE</a:t>
            </a:r>
            <a:r>
              <a:rPr i="1" lang="pt-BR" sz="1000"/>
              <a:t>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EMAIL VARCHAR(100) </a:t>
            </a:r>
            <a:r>
              <a:rPr b="1" i="1" lang="pt-BR" sz="1000"/>
              <a:t>UNIQUE</a:t>
            </a:r>
            <a:r>
              <a:rPr i="1" lang="pt-BR" sz="1000"/>
              <a:t>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VIP TINYINT DEFAULT 0,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000"/>
              <a:t>PRIMARY KEY (ATTENDEE_ID)</a:t>
            </a:r>
            <a:endParaRPr b="1"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);</a:t>
            </a:r>
            <a:endParaRPr sz="1600"/>
          </a:p>
        </p:txBody>
      </p:sp>
      <p:sp>
        <p:nvSpPr>
          <p:cNvPr id="480" name="Google Shape;480;p66"/>
          <p:cNvSpPr txBox="1"/>
          <p:nvPr>
            <p:ph idx="1" type="body"/>
          </p:nvPr>
        </p:nvSpPr>
        <p:spPr>
          <a:xfrm>
            <a:off x="3368100" y="1063375"/>
            <a:ext cx="2994900" cy="379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CREATE TABLE COMPANY (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COMPANY_ID INT </a:t>
            </a:r>
            <a:r>
              <a:rPr b="1" i="1" lang="pt-BR" sz="1000"/>
              <a:t>NOT NULL</a:t>
            </a:r>
            <a:r>
              <a:rPr i="1" lang="pt-BR" sz="1000"/>
              <a:t> AUTO_INCREMENT,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NAME VARCHAR(100),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DESCRIPTION TEXT,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PRIMARY_CONTACT_ATTENDEE_ID INT,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000"/>
              <a:t>PRIMARY KEY (COMPANY_ID)</a:t>
            </a:r>
            <a:endParaRPr b="1"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);</a:t>
            </a:r>
            <a:endParaRPr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CREATE TABLE PRESENTATION 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 PRESENTATION_ID INT </a:t>
            </a:r>
            <a:r>
              <a:rPr b="1" i="1" lang="pt-BR" sz="1000"/>
              <a:t>NOT NULL</a:t>
            </a:r>
            <a:r>
              <a:rPr i="1" lang="pt-BR" sz="1000"/>
              <a:t> AUTO_INCREMENT,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BOOKED_COMPANY_ID INT,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BOOKED_ROOM_ID INT,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START_TIME DATETIME,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END_TIME DATETIME,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000"/>
              <a:t>PRIMARY KEY (PRESENTATION_ID)</a:t>
            </a:r>
            <a:endParaRPr b="1"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);</a:t>
            </a:r>
            <a:endParaRPr sz="1600"/>
          </a:p>
        </p:txBody>
      </p:sp>
      <p:sp>
        <p:nvSpPr>
          <p:cNvPr id="481" name="Google Shape;481;p66"/>
          <p:cNvSpPr txBox="1"/>
          <p:nvPr>
            <p:ph idx="1" type="body"/>
          </p:nvPr>
        </p:nvSpPr>
        <p:spPr>
          <a:xfrm>
            <a:off x="6363000" y="1085850"/>
            <a:ext cx="2453700" cy="377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CREATE TABLE PRESENTATION (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PRESENTATION_ID INT </a:t>
            </a:r>
            <a:r>
              <a:rPr b="1" i="1" lang="pt-BR" sz="1000"/>
              <a:t>NOT NULL </a:t>
            </a:r>
            <a:r>
              <a:rPr i="1" lang="pt-BR" sz="1000"/>
              <a:t>AUTO_INCREMENT,</a:t>
            </a:r>
            <a:endParaRPr i="1" sz="8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BOOKED_COMPANY_ID INT,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BOOKED_ROOM_ID INT,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START_TIME DATETIME,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END_TIME DATETIME,</a:t>
            </a:r>
            <a:endParaRPr i="1" sz="1000"/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1000"/>
              <a:t>PRIMARY KEY (PRESENTATION_ID)</a:t>
            </a:r>
            <a:endParaRPr b="1" i="1" sz="1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1000"/>
              <a:t>);</a:t>
            </a:r>
            <a:endParaRPr i="1"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7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Restrições UNIQUE e NOT NULL em Queries SQL</a:t>
            </a:r>
            <a:endParaRPr/>
          </a:p>
        </p:txBody>
      </p:sp>
      <p:pic>
        <p:nvPicPr>
          <p:cNvPr id="487" name="Google Shape;48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175" y="1093859"/>
            <a:ext cx="6005648" cy="3775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8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 e Perguntas</a:t>
            </a:r>
            <a:endParaRPr/>
          </a:p>
        </p:txBody>
      </p:sp>
      <p:pic>
        <p:nvPicPr>
          <p:cNvPr id="493" name="Google Shape;49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713" y="1063379"/>
            <a:ext cx="5127772" cy="3775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9"/>
          <p:cNvSpPr txBox="1"/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</p:spPr>
        <p:txBody>
          <a:bodyPr anchorCtr="0" anchor="b" bIns="685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Bibliográficas</a:t>
            </a:r>
            <a:endParaRPr/>
          </a:p>
        </p:txBody>
      </p:sp>
      <p:sp>
        <p:nvSpPr>
          <p:cNvPr id="499" name="Google Shape;499;p69"/>
          <p:cNvSpPr txBox="1"/>
          <p:nvPr>
            <p:ph idx="1" type="body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Getting Started with SQL, Thomas Nield, O'Reilly Media, Inc;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Database Design for Mere Mortals, Third Edition, Michael J. Hernandez, O'Reilly Media, Inc;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Practical SQL, 2nd Edition, Anthony DeBarros, O'Reilly Media, Inc;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trimônio Líquido">
  <a:themeElements>
    <a:clrScheme name="Fluxo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